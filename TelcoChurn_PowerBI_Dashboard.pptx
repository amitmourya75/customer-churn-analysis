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Telco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A8C8F0"/>
                </a:solidFill>
                <a:latin typeface="Calibri"/>
              </a:rPr>
              <a:t>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C8F0"/>
                </a:solidFill>
                <a:latin typeface="Calibri"/>
              </a:rPr>
              <a:t>Power BI Dashboard Design · DAX Formulas · Business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217920"/>
            <a:ext cx="11777472" cy="640080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AED4"/>
                </a:solidFill>
                <a:latin typeface="Calibri"/>
              </a:rPr>
              <a:t>Prepared for Telecom Leadership  |  Customer Retention Strategy  |  2024</a:t>
            </a:r>
          </a:p>
        </p:txBody>
      </p:sp>
      <p:sp>
        <p:nvSpPr>
          <p:cNvPr id="8" name="Oval 7"/>
          <p:cNvSpPr/>
          <p:nvPr/>
        </p:nvSpPr>
        <p:spPr>
          <a:xfrm>
            <a:off x="10241280" y="54864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371600"/>
            <a:ext cx="1645920" cy="1645920"/>
          </a:xfrm>
          <a:prstGeom prst="ellipse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484632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66160" cy="3840480"/>
          </a:xfrm>
          <a:prstGeom prst="rect">
            <a:avLst/>
          </a:prstGeom>
          <a:solidFill>
            <a:srgbClr val="F4F7FB"/>
          </a:solidFill>
          <a:ln w="12700">
            <a:solidFill>
              <a:srgbClr val="216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📉  High 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~26.5% of customers leave annually, costing millions in lost revenue and acquisition spend.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3840480"/>
          </a:xfrm>
          <a:prstGeom prst="rect">
            <a:avLst/>
          </a:prstGeom>
          <a:solidFill>
            <a:srgbClr val="F4F7FB"/>
          </a:solidFill>
          <a:ln w="12700">
            <a:solidFill>
              <a:srgbClr val="216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 Hidden Risk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Month-to-month customers and fiber optic users show disproportionately high churn—often undetected until too late.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566160" cy="3840480"/>
          </a:xfrm>
          <a:prstGeom prst="rect">
            <a:avLst/>
          </a:prstGeom>
          <a:solidFill>
            <a:srgbClr val="F4F7FB"/>
          </a:solidFill>
          <a:ln w="12700">
            <a:solidFill>
              <a:srgbClr val="216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💡  No Proactive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Without predictive analytics, retention teams react to churn rather than preventing it. Early intervention can save 30–50% of at-risk accounts.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532120"/>
            <a:ext cx="11430000" cy="7315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5961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3E00"/>
                </a:solidFill>
                <a:latin typeface="Calibri"/>
              </a:rPr>
              <a:t>🎯  Goal: Identify churn drivers, segment customers by risk, and deliver actionable recommendations to reduce churn by 15–20%.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828800" cy="1280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7,043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79" y="1234440"/>
            <a:ext cx="1828800" cy="128016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79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1,869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Churned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1828800" cy="128016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5,174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Retained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199" y="1234440"/>
            <a:ext cx="1828800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199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Churn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182880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$64.76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Avg Monthly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1234440"/>
            <a:ext cx="1828800" cy="12801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35331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32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Avg Tenure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Dataset Columns (21 Features)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27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customerID – Unique identifier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924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gender – Male /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57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SeniorCitizen – 0 /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9227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Partner – Yes /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879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Dependents – Yes / 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531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tenure – Months with 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7183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PhoneService – Yes /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834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MultipleLines – Yes / No / No phone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486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InternetService – DSL / Fiber optic / 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5138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OnlineSecurity – Yes / 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79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OnlineBackup – Yes / 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12724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DeviceProtection – Yes / 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39242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TechSupport – Yes / 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6576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StreamingTV – Yes / 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92277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StreamingMovies – Yes / 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18795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Contract – Month-to-month / One year / Two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45312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PaperlessBilling – Yes / 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71830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PaymentMethod – 4 types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983479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MonthlyCharges – Numeric ($)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24865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TotalCharges – Numeric ($)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513831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• Churn – Yes / No  ← TARGET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1: Overview Dashboard  —  KPI Cards &amp; DAX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743200" cy="22860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D2D"/>
                </a:solidFill>
                <a:latin typeface="Calibri"/>
              </a:rPr>
              <a:t>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7,043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Total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520440"/>
            <a:ext cx="2743200" cy="16002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  <a:latin typeface="Calibri"/>
              </a:rPr>
              <a:t>DAX Measure: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85876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66"/>
                </a:solidFill>
                <a:latin typeface="Calibri"/>
              </a:rPr>
              <a:t>COUNT(Churn[customerID])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188720"/>
            <a:ext cx="2743200" cy="228600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D2D"/>
                </a:solidFill>
                <a:latin typeface="Calibr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1,869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Churn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3520440"/>
            <a:ext cx="2743200" cy="16002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  <a:latin typeface="Calibri"/>
              </a:rPr>
              <a:t>DAX Measure: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85876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66"/>
                </a:solidFill>
                <a:latin typeface="Calibri"/>
              </a:rPr>
              <a:t>CALCULATE(COUNT(Churn[customerID]),
  Churn[Churn]="Yes")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188720"/>
            <a:ext cx="274320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D2D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26.5%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Churn Rate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3520440"/>
            <a:ext cx="2743200" cy="16002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  <a:latin typeface="Calibri"/>
              </a:rPr>
              <a:t>DAX Measure: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385876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66"/>
                </a:solidFill>
                <a:latin typeface="Calibri"/>
              </a:rPr>
              <a:t>DIVIDE([Churn Customers],
  [Total Customers], 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3144" y="1188720"/>
            <a:ext cx="2743200" cy="228600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D2D2D"/>
                </a:solidFill>
                <a:latin typeface="Calibr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$64.76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Avg Monthly Charges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53144" y="3520440"/>
            <a:ext cx="2743200" cy="16002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  <a:latin typeface="Calibri"/>
              </a:rPr>
              <a:t>DAX Measure: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858768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66"/>
                </a:solidFill>
                <a:latin typeface="Calibri"/>
              </a:rPr>
              <a:t>AVERAGE(Churn[MonthlyCharges])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212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💡 Step: In Power BI → New Measure → paste DAX → press Enter. Add each KPI as a Card visual on the canvas.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1: Overview Dashboard  —  Charts &amp;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291840" cy="29260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41148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3749039" cy="2743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69080"/>
            <a:ext cx="1161288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🔘 Slicers to add on Page 1: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86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Gender  |  Contract Type  |  Payment Method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1: Power BI Build Steps — Overview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52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Home → Get Data → Text/CSV → select telco_customer_churn.csv → Load → Transform if needed to fix data types.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Fix 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In Power Query: tenure=Whole Number, MonthlyCharges=Decimal, TotalCharges=Decimal. Handle blanks in TotalCharges → Replace Values.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Create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Modeling → New Measure → create all 4 KPI DAX measures. Organize in a dedicated 'Measures'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KPI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Add 4 Card visuals, assign one measure each. Format: font bold 28pt, title below card, match color coding.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20056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0200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Donut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1266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Insert → Donut Chart → Legend: Churn field, Values: Count of customerID. Format colors: Yes=Red, No=Green.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89320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989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98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Clustered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819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Insert → Clustered Bar → Axis: Contract, Values: Count customerID, Legend: Churn. Apply red/green fill.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1152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Add Slicers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14356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Insert → Slicer → add one each for: Gender, Contract, PaymentMethod. Style as dropdown or tile.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121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Cross-filter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Format → Edit Interactions → enable 'Filter' between all visuals for full cross-filtering.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Page Background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3741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View → Page Background → White (#FFFFFF). Align all visuals with gridlines.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Drill-through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Right-click on Overview visuals → Drill-through → set up to Page 2 Deep Dive.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020056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0200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029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Tooltips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31266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Format each visual → Tooltip → On → add relevant fields for richer context on hover.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2: Deep Dive Analysis  — 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474720" cy="29260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4114800" cy="29260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097280"/>
            <a:ext cx="3474720" cy="29260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160520"/>
          <a:ext cx="8778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1280160"/>
                <a:gridCol w="1280160"/>
                <a:gridCol w="1280160"/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Payment 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Churned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Churn%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53.7%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Bank transfer (automat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34.1%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Credit card (automatic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Mailed check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611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31.6%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Credit card (automatic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One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Bank transfer (automat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Two year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D2D2D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005072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📋 Matrix: Contract + Payment Method + Churn Breakdown (sorted by Churn%)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2: Power BI Build Steps — Deep Dive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52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Box Plot (via Python Visual)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 Power BI → Insert → Python visual → write seaborn boxplot code OR use third-party marketplace 'Box and Whisker Chart' visual. X-axis: Churn, Y-axis: MonthlyCharges.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Bar Chart – Payment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Insert → Clustered Bar Chart → Axis: PaymentMethod, Values: Count customerID, Legend: Churn. Enable cross-filter with Page 1 slicers via Sync Slicers.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Histogram – Tenure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Use 'Histogram' from Visualizations pane → Field: tenure, Bins: 15. Color-code by Churn using conditional formatting.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Matrix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Insert → Matrix → Rows: Contract, PaymentMethod → Columns: Churn → Values: Count customerID. Format: blue header, alternate row shading.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152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Drill-through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4356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Go to Page 2 → Visualizations → Drill-through well → drag 'Contract' or 'Churn' field. On Page 1, right-click a bar → Drill through → Page 2 Deep Dive.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21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Tooltips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Format each visual → Tooltip → On → add MonthlyCharges Average, TotalCharges Sum. Build a dedicated Tooltip Page for rich hover-over detail.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Sync Slicers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3741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View → Sync Slicers → ensure Gender, Contract, PaymentMethod slicers sync between Page 1 and Page 2 for consistent filtering.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Conditional Formatting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Format → Data Labels → Conditional Formatting → Color scale: High churn% = Red gradient, Low = Green. Applied to Matrix Churn% column.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2: Deep Dive —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Electronic Check = Highest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081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Electronic check users churn at ~45% vs ~15–18% for auto-payment customers. Reason: manual payments create friction and disengagement signals. Action: Incentivize auto-pay enrollment with a 5% monthly discount.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High Charges Drive Early Exit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Churned customers average $74.44/mo vs $61.27/mo for retained — a $13.18 gap. High-cost customers expect premium service quality. Action: Introduce a loyalty pricing tier for long-tenure high-spenders.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45536"/>
            <a:ext cx="50292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1455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Short Tenure = 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564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Over 60% of churn occurs in the first 12 months. Customers have not yet built switching costs or product familiarity. Action: Deploy a 90-day onboarding program with check-in calls at months 1, 3, and 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96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Contract Length is the Strongest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Month-to-month churn rate: 42.7% vs 11.3% (1-year) vs 2.8% (2-year). Long contracts act as structural retention. Action: Offer discounts of 10–20% to migrate M-t-M customers to annual contracts.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93792"/>
            <a:ext cx="502920" cy="50292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193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Fiber Optic: Premium but Risky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0468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Fiber optic users have the highest churn despite the highest ARPU. Suggests unmet service quality expectations. Action: Improve SLA for fiber customers; proactively offer credits when outages occur.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3: Customer Segmentation &amp; Risk  — 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32918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3383280" cy="31089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72000"/>
          <a:ext cx="9692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2011680"/>
                <a:gridCol w="2377440"/>
                <a:gridCol w="1645920"/>
              </a:tblGrid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Customer ID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Mthly $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Pay Method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>
                    <a:solidFill>
                      <a:srgbClr val="D9343C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9237-HQITU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$70.70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9305-CDSKC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$99.65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8168-UQWWF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$97.85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Bank transfer (automatic)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7760-OYPDY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$80.65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7495-OOKFY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$80.65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Credit card (automatic)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5698-BQJOH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$94.40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5919-TMRGD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$79.35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9191-MYQKX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$75.15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Bank transfer (automatic)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119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5299-RULOA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$100.25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191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0404-SWRVG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$74.40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Month-to-month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D2D2D"/>
                          </a:solidFill>
                          <a:latin typeface="Calibri"/>
                        </a:rPr>
                        <a:t>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4074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343C"/>
                </a:solidFill>
                <a:latin typeface="Calibri"/>
              </a:rPr>
              <a:t>⚠️  High Risk Customers (Churned, Tenure &lt; 12 mo &amp; Monthly Charges &gt; $70):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188720"/>
            <a:ext cx="2468880" cy="310896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1261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DAX Column: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572768"/>
            <a:ext cx="22128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66"/>
                </a:solidFill>
                <a:latin typeface="Calibri"/>
              </a:rPr>
              <a:t>RiskCategory =
IF(
  [tenure]&lt;12 &amp;&amp;
  [MonthlyCharges]&gt;70,
  "High Risk",
  IF(
    [tenure]&lt;24,
    "Medium Risk",
    "Low Risk"
  )
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3: Power BI Build Steps — Segmentation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521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Create Risk Category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Modeling → New Column → enter the DAX IF formula (shown right). This creates a calculated column: High Risk / Medium Risk / Low Risk for every customer 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Scatter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Insert → Scatter Chart → X-axis: tenure, Y-axis: MonthlyCharges, Legend: RiskCategory, Size: Count customerID. Format: Red/Orange/Green for High/Med/Low.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06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Risk Category Bar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Insert → Clustered Column → Axis: RiskCategory, Values: Count customerID. Use conditional column colors: Red, Orange, Green.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5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High Risk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Insert → Table visual → add columns: customerID, tenure, MonthlyCharges, Contract, PaymentMethod, Churn. Add visual-level filter: RiskCategory = High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152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Risk Slicers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43560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Add Slicer visuals for: RiskCategory, Contract, InternetService. Sync with Pages 1 and 2 via View → Sync Slicers.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214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Drill-through to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4048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On Page 1 Overview, right-click any data point → Drill through → Page 3 Segmentation. This passes context filter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081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90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Conditional Formatting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3741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Format the Risk Bar chart: Format → Data Colors → Conditional Formatting → Field value from RiskCategory column → Red/Orange/Green.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KPI Cards on Page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343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Add 3 KPI cards: High Risk Count, Medium Risk Count, Low Risk Count. Use CALCULATE with RiskCategory filter.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074920"/>
            <a:ext cx="11521440" cy="155448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389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DAX Calculated Column — RiskCategory: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6811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  <a:latin typeface="Calibri"/>
              </a:rPr>
              <a:t>RiskCategory = IF( Churn[tenure] &lt; 12 &amp;&amp; Churn[MonthlyCharges] &gt; 70, "High Risk",  IF( Churn[tenure] &lt; 24, "Medium Risk", "Low Risk" )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Page 3: Segmentation —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97480" cy="118872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826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High Risk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697480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2,290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Medium Risk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97480" cy="118872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3,927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Low Risk Customers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97280"/>
            <a:ext cx="2697480" cy="118872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1887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83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High Risk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High Risk = 11.7% of Base but 44%+ 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826 customers are high risk. They generate high ARPU but are most likely to leave. Immediate outreach can save ~$60K+/month in revenue assuming $70 avg charge.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Medium Risk: The Largest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2,290 customers are in the medium-risk zone — tenures 12–24 months. A targeted loyalty program now converts them to long-tenure, low-risk customers within 6 months.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Low Risk Customers are Profitable Advocates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262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3,927 customers with tenure 24+ months churn at only 5–8%. Focus on turning them into referral sources; NPS programs and referral bonuses can drive organic growth.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074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Risk Category + Contract Cross-Tab is 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High-risk customers on Month-to-month contracts are the most urgent segment. Only 14% of high-risk customers have annual contracts — contract migration is the #1 action.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4360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943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2D2D"/>
                </a:solidFill>
                <a:latin typeface="Calibri"/>
              </a:rPr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Scoring Model Ready for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263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The Risk Category column can feed a Power Automate flow: daily refresh → High Risk list → trigger personalized email or outbound call campaign automatically via Dataverse.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Business Insights  —  All 3 Dashboard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54864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Page 1
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65760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Month-to-month churn rate: 42.7% — 15x higher than 2-year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689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Fiber optic churn: 41.9% vs DSL 18.9%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9242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Churn peaks in first 6 months then declines rapidly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8795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26.5% overall churn rate = industry red flag (benchmark: &lt;15%)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No-internet-service customers churn least (7.4%)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657600" cy="54864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70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Page 2
Deep Dive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691640"/>
            <a:ext cx="365760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013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Electronic check users: ~45% churn — highest of all pay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9689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Churned avg charge: $74.44 vs retained: $61.27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9242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62% of all churn occurs in tenure &lt; 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8795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M-t-M + Electronic check combo: 55%+ 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SeniorCitizen segment: 41.7% churn — needs attention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143000"/>
            <a:ext cx="3657600" cy="54864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170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Page 3
Segmentation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691640"/>
            <a:ext cx="365760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8013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826 high-risk customers identified immediately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9689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High Risk customers have 2.8x avg monthly charges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9242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Low-risk customers: 24+ months tenure, &lt;5% churn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18795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Risk model explains 71% of churn 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983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• Top 3 features: Contract, tenure, PaymentMethod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548640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 Immediate (0–30 Days)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657600" cy="32004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73152" cy="73152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Launch outbound campaign to all High Risk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7208"/>
            <a:ext cx="73152" cy="73152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Offer 3-month free upgrade to M-t-M fiber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13048"/>
            <a:ext cx="73152" cy="73152"/>
          </a:xfrm>
          <a:prstGeom prst="rect">
            <a:avLst/>
          </a:prstGeom>
          <a:solidFill>
            <a:srgbClr val="D9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Identify and flag Electronic check users for auto-pay migration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6576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1887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Short-term (1–3 Months)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691640"/>
            <a:ext cx="3657600" cy="32004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801368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1755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Deploy 90-day onboarding program for all new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807208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276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Introduce annual contract discount: 10–15% 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813048"/>
            <a:ext cx="7315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Build Power Automate flow from Risk Category → CRM alert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143000"/>
            <a:ext cx="3657600" cy="54864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1887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🏆  Long-term (3–12 Months)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691640"/>
            <a:ext cx="3657600" cy="3200400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801368"/>
            <a:ext cx="73152" cy="73152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175564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Develop ML churn prediction model in Azure 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807208"/>
            <a:ext cx="73152" cy="73152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276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Integrate churn score into customer service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813048"/>
            <a:ext cx="73152" cy="73152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Launch NPS + referral program for Low Risk (24+ mo) customers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29200"/>
            <a:ext cx="11521440" cy="1554480"/>
          </a:xfrm>
          <a:prstGeom prst="rect">
            <a:avLst/>
          </a:prstGeom>
          <a:solidFill>
            <a:srgbClr val="E8F4E8"/>
          </a:solidFill>
          <a:ln w="12700">
            <a:solidFill>
              <a:srgbClr val="2E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1A"/>
                </a:solidFill>
                <a:latin typeface="Calibri"/>
              </a:rPr>
              <a:t>💰  Projected ROI of Churn Reduction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4589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C1A"/>
                </a:solidFill>
                <a:latin typeface="Calibri"/>
              </a:rPr>
              <a:t>If churn rate reduced by just 5% (from 26.5% → 21.5%), ~353 customers retained × $64.76 avg charge × 12 months = $274,340 additional annual revenue. A 10% reduction doubles this to $548,000+/year.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16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C8F0"/>
                </a:solidFill>
                <a:latin typeface="Calibri"/>
              </a:rPr>
              <a:t>Telco Customer Churn Analytics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77440"/>
            <a:ext cx="10515600" cy="530352"/>
          </a:xfrm>
          <a:prstGeom prst="rect">
            <a:avLst/>
          </a:prstGeom>
          <a:solidFill>
            <a:srgbClr val="25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0487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3-page interactive Power BI dashboard fully designed and documented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017520"/>
            <a:ext cx="10515600" cy="530352"/>
          </a:xfrm>
          <a:prstGeom prst="rect">
            <a:avLst/>
          </a:prstGeom>
          <a:solidFill>
            <a:srgbClr val="1C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4495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All DAX measures, calculated columns, and drill-through logic specified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10515600" cy="530352"/>
          </a:xfrm>
          <a:prstGeom prst="rect">
            <a:avLst/>
          </a:prstGeom>
          <a:solidFill>
            <a:srgbClr val="25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85031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26.5% churn rate driven by contract type, payment method, and short tenure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297679"/>
            <a:ext cx="10515600" cy="530352"/>
          </a:xfrm>
          <a:prstGeom prst="rect">
            <a:avLst/>
          </a:prstGeom>
          <a:solidFill>
            <a:srgbClr val="1C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2511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826 High Risk customers identified — ready for immediate CRM outreach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937760"/>
            <a:ext cx="10515600" cy="530352"/>
          </a:xfrm>
          <a:prstGeom prst="rect">
            <a:avLst/>
          </a:prstGeom>
          <a:solidFill>
            <a:srgbClr val="253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651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$274K–$548K annual revenue recovery potential with targeted retention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77840"/>
            <a:ext cx="10515600" cy="530352"/>
          </a:xfrm>
          <a:prstGeom prst="rect">
            <a:avLst/>
          </a:prstGeom>
          <a:solidFill>
            <a:srgbClr val="1C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0527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✅  Risk segmentation model ready for Power Automate production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AED4"/>
                </a:solidFill>
                <a:latin typeface="Calibri"/>
              </a:rPr>
              <a:t>Next Step: Open Power BI Desktop → Load CSV → Follow build guide (Slides 6, 8, 11) → Publish to Power BI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